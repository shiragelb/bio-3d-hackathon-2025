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83" r:id="rId1"/>
  </p:sldMasterIdLst>
  <p:sldIdLst>
    <p:sldId id="256" r:id="rId2"/>
    <p:sldId id="258" r:id="rId3"/>
    <p:sldId id="257" r:id="rId4"/>
    <p:sldId id="259" r:id="rId5"/>
    <p:sldId id="260" r:id="rId6"/>
    <p:sldId id="261" r:id="rId7"/>
    <p:sldId id="262" r:id="rId8"/>
    <p:sldId id="263" r:id="rId9"/>
    <p:sldId id="264" r:id="rId10"/>
  </p:sldIdLst>
  <p:sldSz cx="12192000" cy="6858000"/>
  <p:notesSz cx="6858000" cy="9144000"/>
  <p:defaultTextStyle>
    <a:defPPr>
      <a:defRPr lang="en-US"/>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0000" autoAdjust="0"/>
    <p:restoredTop sz="94660"/>
  </p:normalViewPr>
  <p:slideViewPr>
    <p:cSldViewPr snapToGrid="0">
      <p:cViewPr varScale="1">
        <p:scale>
          <a:sx n="106" d="100"/>
          <a:sy n="106" d="100"/>
        </p:scale>
        <p:origin x="5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6/24/2025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89203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6/24/2025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94753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6/24/2025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08110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6/24/2025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32763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6/24/2025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028398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6/24/2025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252436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6/24/2025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26628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6/24/2025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99402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6/24/2025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22805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6/24/2025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580751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6/24/2025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887150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lIns="91440" tIns="45720" rIns="91440" bIns="45720"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lIns="91440" tIns="45720" rIns="91440" bIns="4572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lIns="91440" tIns="45720" rIns="91440" bIns="45720" anchor="ctr"/>
          <a:lstStyle>
            <a:lvl1pPr algn="r">
              <a:defRPr sz="1050">
                <a:solidFill>
                  <a:schemeClr val="tx1"/>
                </a:solidFill>
                <a:latin typeface="+mj-lt"/>
              </a:defRPr>
            </a:lvl1pPr>
          </a:lstStyle>
          <a:p>
            <a:fld id="{E31BA835-12AC-4E8F-955A-EA3F4DE2791F}" type="datetime1">
              <a:rPr lang="en-US" smtClean="0"/>
              <a:t>6/24/2025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lIns="91440" tIns="45720" rIns="91440" bIns="4572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lIns="91440" tIns="45720" rIns="91440" bIns="4572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857864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76" r:id="rId6"/>
    <p:sldLayoutId id="2147483672" r:id="rId7"/>
    <p:sldLayoutId id="2147483673" r:id="rId8"/>
    <p:sldLayoutId id="2147483674" r:id="rId9"/>
    <p:sldLayoutId id="2147483675" r:id="rId10"/>
    <p:sldLayoutId id="2147483677" r:id="rId11"/>
  </p:sldLayoutIdLst>
  <p:hf sldNum="0" hdr="0" ftr="0" dt="0"/>
  <p:txStyles>
    <p:titleStyle>
      <a:lvl1pPr algn="l" defTabSz="914400" rtl="0" eaLnBrk="1" latinLnBrk="0" hangingPunct="1">
        <a:lnSpc>
          <a:spcPct val="110000"/>
        </a:lnSpc>
        <a:spcBef>
          <a:spcPct val="0"/>
        </a:spcBef>
        <a:buNone/>
        <a:defRPr sz="4800" kern="1200" cap="none" spc="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lifesciences.org/articles/11466" TargetMode="External"/><Relationship Id="rId2" Type="http://schemas.openxmlformats.org/officeDocument/2006/relationships/hyperlink" Target="https://www.nature.com/articles/s41598-019-43004-0"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63E4ADE-6F63-9FE9-87A1-E5746833C50D}"/>
              </a:ext>
            </a:extLst>
          </p:cNvPr>
          <p:cNvSpPr>
            <a:spLocks noGrp="1"/>
          </p:cNvSpPr>
          <p:nvPr>
            <p:ph type="ctrTitle"/>
          </p:nvPr>
        </p:nvSpPr>
        <p:spPr>
          <a:xfrm>
            <a:off x="5604552" y="871758"/>
            <a:ext cx="5825448" cy="3871143"/>
          </a:xfrm>
        </p:spPr>
        <p:txBody>
          <a:bodyPr>
            <a:normAutofit fontScale="90000"/>
          </a:bodyPr>
          <a:lstStyle/>
          <a:p>
            <a:pPr algn="ctr"/>
            <a:r>
              <a:rPr lang="en-US" sz="3600" b="0" i="0" u="none" strike="noStrike" baseline="0" dirty="0">
                <a:latin typeface="CMR17"/>
              </a:rPr>
              <a:t>NES-Finder: A Transformer-classifier for Identifying Novel</a:t>
            </a:r>
            <a:br>
              <a:rPr lang="en-US" sz="3600" b="0" i="0" u="none" strike="noStrike" baseline="0" dirty="0">
                <a:latin typeface="CMR17"/>
              </a:rPr>
            </a:br>
            <a:r>
              <a:rPr lang="en-US" sz="3600" b="0" i="0" u="none" strike="noStrike" baseline="0" dirty="0">
                <a:latin typeface="CMR17"/>
              </a:rPr>
              <a:t>Nuclear Export Signals</a:t>
            </a:r>
            <a:br>
              <a:rPr lang="en-US" sz="3600" b="0" i="0" u="none" strike="noStrike" baseline="0" dirty="0">
                <a:latin typeface="CMR17"/>
              </a:rPr>
            </a:br>
            <a:r>
              <a:rPr lang="en-US" sz="2700" b="0" i="0" u="none" strike="noStrike" baseline="0" dirty="0">
                <a:latin typeface="CMR17"/>
              </a:rPr>
              <a:t>(project #3)</a:t>
            </a:r>
            <a:br>
              <a:rPr lang="en-US" sz="2700" dirty="0"/>
            </a:br>
            <a:br>
              <a:rPr lang="en-US" sz="3600" b="0" i="0" u="none" strike="noStrike" baseline="0" dirty="0">
                <a:latin typeface="CMR17"/>
              </a:rPr>
            </a:br>
            <a:br>
              <a:rPr lang="en-US" sz="3600" b="0" i="0" u="none" strike="noStrike" baseline="0" dirty="0">
                <a:latin typeface="CMR17"/>
              </a:rPr>
            </a:br>
            <a:br>
              <a:rPr lang="en-US" sz="2400" b="0" i="0" u="none" strike="noStrike" baseline="0" dirty="0">
                <a:latin typeface="CMR17"/>
              </a:rPr>
            </a:br>
            <a:br>
              <a:rPr lang="en-US" sz="2400" b="0" i="0" u="none" strike="noStrike" baseline="0" dirty="0">
                <a:latin typeface="CMR17"/>
              </a:rPr>
            </a:br>
            <a:br>
              <a:rPr lang="en-US" sz="2400" b="0" i="0" u="none" strike="noStrike" baseline="0" dirty="0">
                <a:latin typeface="CMR17"/>
              </a:rPr>
            </a:br>
            <a:endParaRPr lang="en-US" sz="2400" dirty="0"/>
          </a:p>
        </p:txBody>
      </p:sp>
      <p:sp>
        <p:nvSpPr>
          <p:cNvPr id="3" name="כותרת משנה 2">
            <a:extLst>
              <a:ext uri="{FF2B5EF4-FFF2-40B4-BE49-F238E27FC236}">
                <a16:creationId xmlns:a16="http://schemas.microsoft.com/office/drawing/2014/main" id="{302A3F64-813E-44D6-7C94-A004855075F6}"/>
              </a:ext>
            </a:extLst>
          </p:cNvPr>
          <p:cNvSpPr>
            <a:spLocks noGrp="1"/>
          </p:cNvSpPr>
          <p:nvPr>
            <p:ph type="subTitle" idx="1"/>
          </p:nvPr>
        </p:nvSpPr>
        <p:spPr>
          <a:xfrm>
            <a:off x="5761876" y="5504507"/>
            <a:ext cx="5630024" cy="436821"/>
          </a:xfrm>
        </p:spPr>
        <p:txBody>
          <a:bodyPr>
            <a:normAutofit/>
          </a:bodyPr>
          <a:lstStyle/>
          <a:p>
            <a:r>
              <a:rPr lang="nl-NL" sz="1800" u="none" dirty="0">
                <a:latin typeface="CMR12"/>
              </a:rPr>
              <a:t>Team: </a:t>
            </a:r>
            <a:r>
              <a:rPr lang="nl-NL" sz="1800" b="0" i="0" u="none" strike="noStrike" baseline="0" dirty="0">
                <a:latin typeface="CMR12"/>
              </a:rPr>
              <a:t>Daniel Levin, Imri Shuval, Shira Gelbstein, Ron Levin</a:t>
            </a:r>
          </a:p>
        </p:txBody>
      </p:sp>
      <p:cxnSp>
        <p:nvCxnSpPr>
          <p:cNvPr id="11" name="Straight Connector 1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723900"/>
            <a:ext cx="5706224"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F06E40-3ECB-4820-95B5-8A70B07D4B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6134100"/>
            <a:ext cx="566812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תמונה 5">
            <a:extLst>
              <a:ext uri="{FF2B5EF4-FFF2-40B4-BE49-F238E27FC236}">
                <a16:creationId xmlns:a16="http://schemas.microsoft.com/office/drawing/2014/main" id="{47A5E9EF-A8CE-D964-2456-CEB195E87989}"/>
              </a:ext>
            </a:extLst>
          </p:cNvPr>
          <p:cNvPicPr>
            <a:picLocks noChangeAspect="1"/>
          </p:cNvPicPr>
          <p:nvPr/>
        </p:nvPicPr>
        <p:blipFill>
          <a:blip r:embed="rId2"/>
          <a:stretch>
            <a:fillRect/>
          </a:stretch>
        </p:blipFill>
        <p:spPr>
          <a:xfrm>
            <a:off x="0" y="0"/>
            <a:ext cx="5219642" cy="6858000"/>
          </a:xfrm>
          <a:prstGeom prst="rect">
            <a:avLst/>
          </a:prstGeom>
        </p:spPr>
      </p:pic>
    </p:spTree>
    <p:extLst>
      <p:ext uri="{BB962C8B-B14F-4D97-AF65-F5344CB8AC3E}">
        <p14:creationId xmlns:p14="http://schemas.microsoft.com/office/powerpoint/2010/main" val="3955958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DA6D95E-77BA-7CAD-B357-4735D5B439C1}"/>
              </a:ext>
            </a:extLst>
          </p:cNvPr>
          <p:cNvSpPr>
            <a:spLocks noGrp="1"/>
          </p:cNvSpPr>
          <p:nvPr>
            <p:ph type="title"/>
          </p:nvPr>
        </p:nvSpPr>
        <p:spPr/>
        <p:txBody>
          <a:bodyPr/>
          <a:lstStyle/>
          <a:p>
            <a:r>
              <a:rPr lang="en-US" sz="4400" b="0" i="0" u="none" strike="noStrike" baseline="0" dirty="0">
                <a:latin typeface="CMBX12"/>
              </a:rPr>
              <a:t>Introduction:</a:t>
            </a:r>
            <a:endParaRPr lang="en-US" sz="4400" dirty="0"/>
          </a:p>
        </p:txBody>
      </p:sp>
      <p:sp>
        <p:nvSpPr>
          <p:cNvPr id="3" name="מציין מיקום תוכן 2">
            <a:extLst>
              <a:ext uri="{FF2B5EF4-FFF2-40B4-BE49-F238E27FC236}">
                <a16:creationId xmlns:a16="http://schemas.microsoft.com/office/drawing/2014/main" id="{4446C950-F757-8968-D302-14F6C21C7F0E}"/>
              </a:ext>
            </a:extLst>
          </p:cNvPr>
          <p:cNvSpPr>
            <a:spLocks noGrp="1"/>
          </p:cNvSpPr>
          <p:nvPr>
            <p:ph idx="1"/>
          </p:nvPr>
        </p:nvSpPr>
        <p:spPr/>
        <p:txBody>
          <a:bodyPr/>
          <a:lstStyle/>
          <a:p>
            <a:r>
              <a:rPr lang="en-US" sz="2000" dirty="0">
                <a:latin typeface="+mj-lt"/>
                <a:sym typeface="Helvetica"/>
              </a:rPr>
              <a:t>Proteins are transported between the nucleus and the </a:t>
            </a:r>
            <a:r>
              <a:rPr lang="en-US" sz="2000" dirty="0" err="1">
                <a:latin typeface="+mj-lt"/>
                <a:sym typeface="Helvetica"/>
              </a:rPr>
              <a:t>cytoplasms</a:t>
            </a:r>
            <a:r>
              <a:rPr lang="en-US" sz="2000" dirty="0">
                <a:latin typeface="+mj-lt"/>
                <a:sym typeface="Helvetica"/>
              </a:rPr>
              <a:t> through nuclear pore complexes (NPCs).</a:t>
            </a:r>
            <a:r>
              <a:rPr lang="en-US" dirty="0"/>
              <a:t>	</a:t>
            </a:r>
          </a:p>
          <a:p>
            <a:r>
              <a:rPr lang="en-US" dirty="0"/>
              <a:t>NESs are peptide signals recognized by the transport protein CRM1/XPO1 which allows the protein to pass through the NPCs.</a:t>
            </a:r>
          </a:p>
          <a:p>
            <a:r>
              <a:rPr lang="en-US" dirty="0"/>
              <a:t>NES motifs are </a:t>
            </a:r>
            <a:r>
              <a:rPr lang="en-US" b="1" dirty="0"/>
              <a:t>diverse</a:t>
            </a:r>
            <a:r>
              <a:rPr lang="en-US" dirty="0"/>
              <a:t> and hard to detect.</a:t>
            </a:r>
          </a:p>
          <a:p>
            <a:r>
              <a:rPr lang="en-US" b="1" dirty="0"/>
              <a:t>Project goal: </a:t>
            </a:r>
            <a:r>
              <a:rPr lang="en-US" dirty="0"/>
              <a:t>develop a deep learning model to </a:t>
            </a:r>
            <a:r>
              <a:rPr lang="en-US" b="1" dirty="0"/>
              <a:t>identify NES-containing proteins based only on their amino acid sequence.</a:t>
            </a:r>
          </a:p>
        </p:txBody>
      </p:sp>
    </p:spTree>
    <p:extLst>
      <p:ext uri="{BB962C8B-B14F-4D97-AF65-F5344CB8AC3E}">
        <p14:creationId xmlns:p14="http://schemas.microsoft.com/office/powerpoint/2010/main" val="73721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2E8309A-E8D2-8D2F-AF75-759B3C33E8A0}"/>
              </a:ext>
            </a:extLst>
          </p:cNvPr>
          <p:cNvSpPr>
            <a:spLocks noGrp="1"/>
          </p:cNvSpPr>
          <p:nvPr>
            <p:ph type="title"/>
          </p:nvPr>
        </p:nvSpPr>
        <p:spPr/>
        <p:txBody>
          <a:bodyPr/>
          <a:lstStyle/>
          <a:p>
            <a:r>
              <a:rPr lang="en-US" sz="4400" b="0" i="0" u="none" strike="noStrike" baseline="0" dirty="0">
                <a:latin typeface="CMBX12"/>
              </a:rPr>
              <a:t>Methods:</a:t>
            </a:r>
            <a:endParaRPr lang="en-US" sz="4400" dirty="0"/>
          </a:p>
        </p:txBody>
      </p:sp>
      <p:sp>
        <p:nvSpPr>
          <p:cNvPr id="3" name="מציין מיקום תוכן 2">
            <a:extLst>
              <a:ext uri="{FF2B5EF4-FFF2-40B4-BE49-F238E27FC236}">
                <a16:creationId xmlns:a16="http://schemas.microsoft.com/office/drawing/2014/main" id="{6DDDE468-B3B7-B323-2355-DA9A2260FA29}"/>
              </a:ext>
            </a:extLst>
          </p:cNvPr>
          <p:cNvSpPr>
            <a:spLocks noGrp="1"/>
          </p:cNvSpPr>
          <p:nvPr>
            <p:ph idx="1"/>
          </p:nvPr>
        </p:nvSpPr>
        <p:spPr/>
        <p:txBody>
          <a:bodyPr/>
          <a:lstStyle/>
          <a:p>
            <a:r>
              <a:rPr lang="en-US" dirty="0"/>
              <a:t>Used ESM-2 protein language model to generate embeddings from full protein sequences.</a:t>
            </a:r>
          </a:p>
          <a:p>
            <a:pPr>
              <a:buFont typeface="Arial" panose="020B0604020202020204" pitchFamily="34" charset="0"/>
              <a:buChar char="•"/>
            </a:pPr>
            <a:r>
              <a:rPr lang="en-US" dirty="0"/>
              <a:t>For training, we extracted sub-sequences: </a:t>
            </a:r>
          </a:p>
          <a:p>
            <a:pPr marL="0" indent="0">
              <a:buNone/>
            </a:pPr>
            <a:r>
              <a:rPr lang="en-US" dirty="0"/>
              <a:t>	- For positives: known NES motifs</a:t>
            </a:r>
          </a:p>
          <a:p>
            <a:pPr marL="0" indent="0">
              <a:buNone/>
            </a:pPr>
            <a:r>
              <a:rPr lang="en-US" dirty="0"/>
              <a:t>	- For negatives: random segments of non-NES proteins.</a:t>
            </a:r>
          </a:p>
          <a:p>
            <a:pPr>
              <a:buFont typeface="Arial" panose="020B0604020202020204" pitchFamily="34" charset="0"/>
              <a:buChar char="•"/>
            </a:pPr>
            <a:r>
              <a:rPr lang="en-US" dirty="0"/>
              <a:t>Trained a Transformer-based classifier using binary cross-entropy loss.</a:t>
            </a:r>
          </a:p>
          <a:p>
            <a:pPr>
              <a:buFont typeface="Arial" panose="020B0604020202020204" pitchFamily="34" charset="0"/>
              <a:buChar char="•"/>
            </a:pPr>
            <a:r>
              <a:rPr lang="en-US" dirty="0"/>
              <a:t>In test time, applied a sliding window (20 aa) over each sequence; final score = max window prediction.</a:t>
            </a:r>
          </a:p>
          <a:p>
            <a:endParaRPr lang="en-US" dirty="0"/>
          </a:p>
        </p:txBody>
      </p:sp>
    </p:spTree>
    <p:extLst>
      <p:ext uri="{BB962C8B-B14F-4D97-AF65-F5344CB8AC3E}">
        <p14:creationId xmlns:p14="http://schemas.microsoft.com/office/powerpoint/2010/main" val="1604310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ED3CB2D0-C69C-50F6-1C42-BD08812332A0}"/>
              </a:ext>
            </a:extLst>
          </p:cNvPr>
          <p:cNvSpPr>
            <a:spLocks noGrp="1"/>
          </p:cNvSpPr>
          <p:nvPr>
            <p:ph type="title"/>
          </p:nvPr>
        </p:nvSpPr>
        <p:spPr/>
        <p:txBody>
          <a:bodyPr/>
          <a:lstStyle/>
          <a:p>
            <a:r>
              <a:rPr lang="en-US" sz="4400" dirty="0"/>
              <a:t>Data:</a:t>
            </a:r>
          </a:p>
        </p:txBody>
      </p:sp>
      <p:sp>
        <p:nvSpPr>
          <p:cNvPr id="4" name="Rectangle 1">
            <a:extLst>
              <a:ext uri="{FF2B5EF4-FFF2-40B4-BE49-F238E27FC236}">
                <a16:creationId xmlns:a16="http://schemas.microsoft.com/office/drawing/2014/main" id="{9A57FE8D-24E2-E00A-BDB2-B92F87D9C482}"/>
              </a:ext>
            </a:extLst>
          </p:cNvPr>
          <p:cNvSpPr>
            <a:spLocks noGrp="1" noChangeArrowheads="1"/>
          </p:cNvSpPr>
          <p:nvPr>
            <p:ph idx="1"/>
          </p:nvPr>
        </p:nvSpPr>
        <p:spPr bwMode="auto">
          <a:xfrm>
            <a:off x="700634" y="2137087"/>
            <a:ext cx="10878747" cy="37286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50000"/>
              </a:lnSpc>
              <a:spcBef>
                <a:spcPct val="0"/>
              </a:spcBef>
              <a:spcAft>
                <a:spcPct val="0"/>
              </a:spcAft>
            </a:pPr>
            <a:r>
              <a:rPr kumimoji="0" lang="en-US" altLang="en-US" i="0" u="none" strike="noStrike" cap="none" normalizeH="0" baseline="0" dirty="0">
                <a:ln>
                  <a:noFill/>
                </a:ln>
                <a:solidFill>
                  <a:schemeClr val="tx1"/>
                </a:solidFill>
                <a:effectLst/>
                <a:latin typeface="Arial" panose="020B0604020202020204" pitchFamily="34" charset="0"/>
              </a:rPr>
              <a:t>Positive training samples</a:t>
            </a:r>
            <a:r>
              <a:rPr kumimoji="0" lang="en-US" altLang="en-US" b="0" i="0" u="none" strike="noStrike" cap="none" normalizeH="0" baseline="0" dirty="0">
                <a:ln>
                  <a:noFill/>
                </a:ln>
                <a:solidFill>
                  <a:schemeClr val="tx1"/>
                </a:solidFill>
                <a:effectLst/>
                <a:latin typeface="Arial" panose="020B0604020202020204" pitchFamily="34" charset="0"/>
              </a:rPr>
              <a:t>: NES motifs from the </a:t>
            </a:r>
            <a:r>
              <a:rPr kumimoji="0" lang="en-US" altLang="en-US" b="0" i="0" u="none" strike="noStrike" cap="none" normalizeH="0" baseline="0" dirty="0" err="1">
                <a:ln>
                  <a:noFill/>
                </a:ln>
                <a:solidFill>
                  <a:schemeClr val="tx1"/>
                </a:solidFill>
                <a:effectLst/>
                <a:latin typeface="Arial" panose="020B0604020202020204" pitchFamily="34" charset="0"/>
              </a:rPr>
              <a:t>NESsential</a:t>
            </a:r>
            <a:r>
              <a:rPr kumimoji="0" lang="en-US" altLang="en-US" b="0" i="0" u="none" strike="noStrike" cap="none" normalizeH="0" baseline="0" dirty="0">
                <a:ln>
                  <a:noFill/>
                </a:ln>
                <a:solidFill>
                  <a:schemeClr val="tx1"/>
                </a:solidFill>
                <a:effectLst/>
                <a:latin typeface="Arial" panose="020B0604020202020204" pitchFamily="34" charset="0"/>
              </a:rPr>
              <a:t> database, matched to full-length human proteins from </a:t>
            </a:r>
            <a:r>
              <a:rPr kumimoji="0" lang="en-US" altLang="en-US" b="0" i="0" u="none" strike="noStrike" cap="none" normalizeH="0" baseline="0" dirty="0" err="1">
                <a:ln>
                  <a:noFill/>
                </a:ln>
                <a:solidFill>
                  <a:schemeClr val="tx1"/>
                </a:solidFill>
                <a:effectLst/>
                <a:latin typeface="Arial" panose="020B0604020202020204" pitchFamily="34" charset="0"/>
              </a:rPr>
              <a:t>UniProt</a:t>
            </a:r>
            <a:r>
              <a:rPr kumimoji="0" lang="en-US" altLang="en-US" b="0" i="0" u="none" strike="noStrike" cap="none" normalizeH="0" baseline="0" dirty="0">
                <a:ln>
                  <a:noFill/>
                </a:ln>
                <a:solidFill>
                  <a:schemeClr val="tx1"/>
                </a:solidFill>
                <a:effectLst/>
                <a:latin typeface="Arial" panose="020B0604020202020204" pitchFamily="34" charset="0"/>
              </a:rPr>
              <a:t>.</a:t>
            </a:r>
          </a:p>
          <a:p>
            <a:pPr eaLnBrk="0" fontAlgn="base" hangingPunct="0">
              <a:lnSpc>
                <a:spcPct val="150000"/>
              </a:lnSpc>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pPr>
            <a:r>
              <a:rPr lang="en-US" altLang="en-US" dirty="0">
                <a:latin typeface="Arial" panose="020B0604020202020204" pitchFamily="34" charset="0"/>
              </a:rPr>
              <a:t>Initial negatives: Random bacterial peptide’s segments from PDB.</a:t>
            </a:r>
          </a:p>
          <a:p>
            <a:pPr eaLnBrk="0" fontAlgn="base" hangingPunct="0">
              <a:lnSpc>
                <a:spcPct val="150000"/>
              </a:lnSpc>
              <a:spcBef>
                <a:spcPct val="0"/>
              </a:spcBef>
              <a:spcAft>
                <a:spcPct val="0"/>
              </a:spcAft>
            </a:pPr>
            <a:r>
              <a:rPr lang="en-US" altLang="en-US" dirty="0">
                <a:latin typeface="Arial" panose="020B0604020202020204" pitchFamily="34" charset="0"/>
              </a:rPr>
              <a:t>Secondary negatives: from </a:t>
            </a:r>
            <a:r>
              <a:rPr lang="en-US" altLang="en-US" dirty="0">
                <a:latin typeface="Arial" panose="020B0604020202020204" pitchFamily="34" charset="0"/>
                <a:hlinkClick r:id="rId2"/>
              </a:rPr>
              <a:t>Yoonji Lee, et al</a:t>
            </a:r>
            <a:r>
              <a:rPr lang="en-US" altLang="en-US" dirty="0">
                <a:latin typeface="Arial" panose="020B0604020202020204" pitchFamily="34" charset="0"/>
              </a:rPr>
              <a:t>.</a:t>
            </a:r>
            <a:endParaRPr kumimoji="0" lang="en-US" altLang="en-US"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pPr>
            <a:r>
              <a:rPr kumimoji="0" lang="en-US" altLang="en-US" i="0" u="none" strike="noStrike" cap="none" normalizeH="0" baseline="0" dirty="0">
                <a:ln>
                  <a:noFill/>
                </a:ln>
                <a:solidFill>
                  <a:schemeClr val="tx1"/>
                </a:solidFill>
                <a:effectLst/>
                <a:latin typeface="Arial" panose="020B0604020202020204" pitchFamily="34" charset="0"/>
              </a:rPr>
              <a:t>Final negatives</a:t>
            </a:r>
            <a:r>
              <a:rPr kumimoji="0" lang="en-US" altLang="en-US" b="0" i="0" u="none" strike="noStrike" cap="none" normalizeH="0" baseline="0" dirty="0">
                <a:ln>
                  <a:noFill/>
                </a:ln>
                <a:solidFill>
                  <a:schemeClr val="tx1"/>
                </a:solidFill>
                <a:effectLst/>
                <a:latin typeface="Arial" panose="020B0604020202020204" pitchFamily="34" charset="0"/>
              </a:rPr>
              <a:t>: Human proteins experimentally shown </a:t>
            </a:r>
            <a:r>
              <a:rPr kumimoji="0" lang="en-US" altLang="en-US" i="0" u="none" strike="noStrike" cap="none" normalizeH="0" baseline="0" dirty="0">
                <a:ln>
                  <a:noFill/>
                </a:ln>
                <a:solidFill>
                  <a:schemeClr val="tx1"/>
                </a:solidFill>
                <a:effectLst/>
                <a:latin typeface="Arial" panose="020B0604020202020204" pitchFamily="34" charset="0"/>
              </a:rPr>
              <a:t>not to bind CRM1 </a:t>
            </a:r>
            <a:r>
              <a:rPr kumimoji="0" lang="en-US" altLang="en-US" b="0" i="0" u="none" strike="noStrike" cap="none" normalizeH="0" baseline="0" dirty="0">
                <a:ln>
                  <a:noFill/>
                </a:ln>
                <a:solidFill>
                  <a:schemeClr val="tx1"/>
                </a:solidFill>
                <a:effectLst/>
                <a:latin typeface="Arial" panose="020B0604020202020204" pitchFamily="34" charset="0"/>
              </a:rPr>
              <a:t>(from </a:t>
            </a:r>
            <a:r>
              <a:rPr kumimoji="0" lang="en-US" altLang="en-US" b="0" i="0" u="none" strike="noStrike" cap="none" normalizeH="0" baseline="0" dirty="0">
                <a:ln>
                  <a:noFill/>
                </a:ln>
                <a:solidFill>
                  <a:schemeClr val="tx1"/>
                </a:solidFill>
                <a:effectLst/>
                <a:latin typeface="Arial" panose="020B0604020202020204" pitchFamily="34" charset="0"/>
                <a:hlinkClick r:id="rId3"/>
              </a:rPr>
              <a:t>Kırlı et al</a:t>
            </a:r>
            <a:r>
              <a:rPr kumimoji="0" lang="en-US" altLang="en-US" b="0" i="0" u="none" strike="noStrike" cap="none" normalizeH="0" baseline="0" dirty="0">
                <a:ln>
                  <a:noFill/>
                </a:ln>
                <a:solidFill>
                  <a:schemeClr val="tx1"/>
                </a:solidFill>
                <a:effectLst/>
                <a:latin typeface="Arial" panose="020B0604020202020204" pitchFamily="34" charset="0"/>
              </a:rPr>
              <a:t>).</a:t>
            </a:r>
          </a:p>
          <a:p>
            <a:pPr eaLnBrk="0" fontAlgn="base" hangingPunct="0">
              <a:lnSpc>
                <a:spcPct val="150000"/>
              </a:lnSpc>
              <a:spcBef>
                <a:spcPct val="0"/>
              </a:spcBef>
              <a:spcAft>
                <a:spcPct val="0"/>
              </a:spcAft>
            </a:pPr>
            <a:endParaRPr lang="en-US" altLang="en-US" dirty="0">
              <a:latin typeface="Arial" panose="020B0604020202020204" pitchFamily="34" charset="0"/>
            </a:endParaRPr>
          </a:p>
          <a:p>
            <a:pPr eaLnBrk="0" fontAlgn="base" hangingPunct="0">
              <a:lnSpc>
                <a:spcPct val="150000"/>
              </a:lnSpc>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Test Set:</a:t>
            </a:r>
            <a:r>
              <a:rPr lang="en-US" altLang="en-US" dirty="0">
                <a:latin typeface="Arial" panose="020B0604020202020204" pitchFamily="34" charset="0"/>
              </a:rPr>
              <a:t> Labeled portion of human proteome (from </a:t>
            </a:r>
            <a:r>
              <a:rPr lang="en-US" altLang="en-US" dirty="0">
                <a:latin typeface="Arial" panose="020B0604020202020204" pitchFamily="34" charset="0"/>
                <a:hlinkClick r:id="rId3"/>
              </a:rPr>
              <a:t>Kırlı et al</a:t>
            </a:r>
            <a:r>
              <a:rPr lang="en-US" altLang="en-US" dirty="0">
                <a:latin typeface="Arial" panose="020B0604020202020204" pitchFamily="34" charset="0"/>
              </a:rPr>
              <a:t>).</a:t>
            </a:r>
          </a:p>
        </p:txBody>
      </p:sp>
    </p:spTree>
    <p:extLst>
      <p:ext uri="{BB962C8B-B14F-4D97-AF65-F5344CB8AC3E}">
        <p14:creationId xmlns:p14="http://schemas.microsoft.com/office/powerpoint/2010/main" val="1769898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1">
            <a:extLst>
              <a:ext uri="{FF2B5EF4-FFF2-40B4-BE49-F238E27FC236}">
                <a16:creationId xmlns:a16="http://schemas.microsoft.com/office/drawing/2014/main" id="{94DC72E3-8630-89A6-F5D1-53CE2A415D1A}"/>
              </a:ext>
            </a:extLst>
          </p:cNvPr>
          <p:cNvSpPr>
            <a:spLocks noGrp="1" noChangeArrowheads="1"/>
          </p:cNvSpPr>
          <p:nvPr>
            <p:ph idx="1"/>
          </p:nvPr>
        </p:nvSpPr>
        <p:spPr bwMode="auto">
          <a:xfrm>
            <a:off x="720731" y="2258796"/>
            <a:ext cx="4611686" cy="231830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92500" lnSpcReduction="10000"/>
          </a:bodyPr>
          <a:lstStyle/>
          <a:p>
            <a:pPr eaLnBrk="0" fontAlgn="base" hangingPunct="0">
              <a:spcBef>
                <a:spcPct val="0"/>
              </a:spcBef>
              <a:spcAft>
                <a:spcPts val="600"/>
              </a:spcAft>
            </a:pPr>
            <a:r>
              <a:rPr lang="en-US" altLang="en-US" dirty="0"/>
              <a:t>Initial test: Human vs. Bacteria: Model achieved near-perfect accuracy, </a:t>
            </a:r>
          </a:p>
          <a:p>
            <a:pPr eaLnBrk="0" fontAlgn="base" hangingPunct="0">
              <a:spcBef>
                <a:spcPct val="0"/>
              </a:spcBef>
              <a:spcAft>
                <a:spcPts val="600"/>
              </a:spcAft>
            </a:pPr>
            <a:r>
              <a:rPr lang="en-US" altLang="en-US" dirty="0"/>
              <a:t>We deemed the task too trivial, as it could be solved by separating human proteins from bacteria (validated with t-SNE).</a:t>
            </a:r>
          </a:p>
          <a:p>
            <a:pPr marL="0" marR="0" lvl="0" indent="0" defTabSz="914400" rtl="0" eaLnBrk="0" fontAlgn="base" latinLnBrk="0" hangingPunct="0">
              <a:spcBef>
                <a:spcPct val="0"/>
              </a:spcBef>
              <a:spcAft>
                <a:spcPts val="600"/>
              </a:spcAft>
              <a:buClrTx/>
              <a:buSzTx/>
              <a:buFontTx/>
              <a:buChar char="•"/>
              <a:tabLst/>
            </a:pPr>
            <a:endParaRPr lang="en-US" altLang="en-US" dirty="0"/>
          </a:p>
        </p:txBody>
      </p:sp>
      <p:pic>
        <p:nvPicPr>
          <p:cNvPr id="15" name="תמונה 14" descr="תמונה שמכילה צילום מסך&#10;&#10;תוכן שנוצר על-ידי בינה מלאכותית עשוי להיות שגוי.">
            <a:extLst>
              <a:ext uri="{FF2B5EF4-FFF2-40B4-BE49-F238E27FC236}">
                <a16:creationId xmlns:a16="http://schemas.microsoft.com/office/drawing/2014/main" id="{43CF3266-5BF6-4FF9-3812-0EB5FB567D2C}"/>
              </a:ext>
            </a:extLst>
          </p:cNvPr>
          <p:cNvPicPr>
            <a:picLocks noChangeAspect="1"/>
          </p:cNvPicPr>
          <p:nvPr/>
        </p:nvPicPr>
        <p:blipFill>
          <a:blip r:embed="rId2">
            <a:extLst>
              <a:ext uri="{28A0092B-C50C-407E-A947-70E740481C1C}">
                <a14:useLocalDpi xmlns:a14="http://schemas.microsoft.com/office/drawing/2010/main" val="0"/>
              </a:ext>
            </a:extLst>
          </a:blip>
          <a:srcRect l="231" r="-1" b="-1"/>
          <a:stretch>
            <a:fillRect/>
          </a:stretch>
        </p:blipFill>
        <p:spPr>
          <a:xfrm>
            <a:off x="5470458" y="536114"/>
            <a:ext cx="6495042" cy="5419642"/>
          </a:xfrm>
          <a:prstGeom prst="rect">
            <a:avLst/>
          </a:prstGeom>
        </p:spPr>
      </p:pic>
      <p:sp>
        <p:nvSpPr>
          <p:cNvPr id="6" name="כותרת 1">
            <a:extLst>
              <a:ext uri="{FF2B5EF4-FFF2-40B4-BE49-F238E27FC236}">
                <a16:creationId xmlns:a16="http://schemas.microsoft.com/office/drawing/2014/main" id="{D3206D66-C12B-5DB2-BF10-8280BE4A67FC}"/>
              </a:ext>
            </a:extLst>
          </p:cNvPr>
          <p:cNvSpPr>
            <a:spLocks noGrp="1"/>
          </p:cNvSpPr>
          <p:nvPr>
            <p:ph type="title"/>
          </p:nvPr>
        </p:nvSpPr>
        <p:spPr>
          <a:xfrm>
            <a:off x="704088" y="914400"/>
            <a:ext cx="2147754" cy="796705"/>
          </a:xfrm>
        </p:spPr>
        <p:txBody>
          <a:bodyPr>
            <a:normAutofit/>
          </a:bodyPr>
          <a:lstStyle/>
          <a:p>
            <a:r>
              <a:rPr lang="en-US" sz="4000" dirty="0"/>
              <a:t>Result</a:t>
            </a:r>
          </a:p>
        </p:txBody>
      </p:sp>
    </p:spTree>
    <p:extLst>
      <p:ext uri="{BB962C8B-B14F-4D97-AF65-F5344CB8AC3E}">
        <p14:creationId xmlns:p14="http://schemas.microsoft.com/office/powerpoint/2010/main" val="3284014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EA65F8DA-14F6-9AF1-0F11-A9FFBB2E0D5B}"/>
              </a:ext>
            </a:extLst>
          </p:cNvPr>
          <p:cNvSpPr>
            <a:spLocks noGrp="1"/>
          </p:cNvSpPr>
          <p:nvPr>
            <p:ph type="title"/>
          </p:nvPr>
        </p:nvSpPr>
        <p:spPr>
          <a:xfrm>
            <a:off x="704088" y="914400"/>
            <a:ext cx="6001512" cy="1307592"/>
          </a:xfrm>
        </p:spPr>
        <p:txBody>
          <a:bodyPr>
            <a:normAutofit/>
          </a:bodyPr>
          <a:lstStyle/>
          <a:p>
            <a:r>
              <a:rPr lang="en-US" sz="4000" dirty="0"/>
              <a:t>Results (cont.) </a:t>
            </a:r>
          </a:p>
        </p:txBody>
      </p:sp>
      <p:cxnSp>
        <p:nvCxnSpPr>
          <p:cNvPr id="14" name="Straight Connector 13">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מציין מיקום תוכן 2">
            <a:extLst>
              <a:ext uri="{FF2B5EF4-FFF2-40B4-BE49-F238E27FC236}">
                <a16:creationId xmlns:a16="http://schemas.microsoft.com/office/drawing/2014/main" id="{5EA58715-E929-6EE6-6721-013F21F5E7F1}"/>
              </a:ext>
            </a:extLst>
          </p:cNvPr>
          <p:cNvSpPr>
            <a:spLocks noGrp="1"/>
          </p:cNvSpPr>
          <p:nvPr>
            <p:ph idx="1"/>
          </p:nvPr>
        </p:nvSpPr>
        <p:spPr>
          <a:xfrm>
            <a:off x="704088" y="2231136"/>
            <a:ext cx="5153504" cy="1725228"/>
          </a:xfrm>
        </p:spPr>
        <p:txBody>
          <a:bodyPr>
            <a:normAutofit/>
          </a:bodyPr>
          <a:lstStyle/>
          <a:p>
            <a:r>
              <a:rPr lang="en-US" dirty="0"/>
              <a:t>Secondary try: Generated harder negatives by mutating NES motifs at key CRM1-binding sites (2 sites).</a:t>
            </a:r>
          </a:p>
          <a:p>
            <a:r>
              <a:rPr lang="en-US" dirty="0"/>
              <a:t>Results were Poor results </a:t>
            </a:r>
          </a:p>
        </p:txBody>
      </p:sp>
      <p:pic>
        <p:nvPicPr>
          <p:cNvPr id="7" name="תמונה 6">
            <a:extLst>
              <a:ext uri="{FF2B5EF4-FFF2-40B4-BE49-F238E27FC236}">
                <a16:creationId xmlns:a16="http://schemas.microsoft.com/office/drawing/2014/main" id="{DC927CA6-239F-15D5-CF30-9EFB513D141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02720" y="606584"/>
            <a:ext cx="5863994" cy="5465730"/>
          </a:xfrm>
          <a:prstGeom prst="rect">
            <a:avLst/>
          </a:prstGeom>
        </p:spPr>
      </p:pic>
    </p:spTree>
    <p:extLst>
      <p:ext uri="{BB962C8B-B14F-4D97-AF65-F5344CB8AC3E}">
        <p14:creationId xmlns:p14="http://schemas.microsoft.com/office/powerpoint/2010/main" val="2486708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BC0078E-4F45-687F-5A76-30158BEDC835}"/>
              </a:ext>
            </a:extLst>
          </p:cNvPr>
          <p:cNvSpPr>
            <a:spLocks noGrp="1"/>
          </p:cNvSpPr>
          <p:nvPr>
            <p:ph type="title"/>
          </p:nvPr>
        </p:nvSpPr>
        <p:spPr>
          <a:xfrm>
            <a:off x="704088" y="914400"/>
            <a:ext cx="6001512" cy="1307592"/>
          </a:xfrm>
        </p:spPr>
        <p:txBody>
          <a:bodyPr>
            <a:normAutofit/>
          </a:bodyPr>
          <a:lstStyle/>
          <a:p>
            <a:r>
              <a:rPr lang="en-US" sz="4000" dirty="0"/>
              <a:t>Results (cont.)</a:t>
            </a:r>
          </a:p>
        </p:txBody>
      </p:sp>
      <p:cxnSp>
        <p:nvCxnSpPr>
          <p:cNvPr id="12" name="Straight Connector 11">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מציין מיקום תוכן 2">
            <a:extLst>
              <a:ext uri="{FF2B5EF4-FFF2-40B4-BE49-F238E27FC236}">
                <a16:creationId xmlns:a16="http://schemas.microsoft.com/office/drawing/2014/main" id="{AB56E07C-00EA-A1D6-6BFF-0AAA056AF34D}"/>
              </a:ext>
            </a:extLst>
          </p:cNvPr>
          <p:cNvSpPr>
            <a:spLocks noGrp="1"/>
          </p:cNvSpPr>
          <p:nvPr>
            <p:ph idx="1"/>
          </p:nvPr>
        </p:nvSpPr>
        <p:spPr>
          <a:xfrm>
            <a:off x="704088" y="2231136"/>
            <a:ext cx="5633421" cy="3931920"/>
          </a:xfrm>
        </p:spPr>
        <p:txBody>
          <a:bodyPr>
            <a:normAutofit/>
          </a:bodyPr>
          <a:lstStyle/>
          <a:p>
            <a:pPr>
              <a:buFont typeface="Arial" panose="020B0604020202020204" pitchFamily="34" charset="0"/>
              <a:buChar char="•"/>
            </a:pPr>
            <a:r>
              <a:rPr lang="en-US" dirty="0"/>
              <a:t>Final test: Model evaluated on human non-binders with AUC = 0.79, showing decent predictive ability.</a:t>
            </a:r>
          </a:p>
          <a:p>
            <a:endParaRPr lang="en-US" dirty="0"/>
          </a:p>
        </p:txBody>
      </p:sp>
      <p:pic>
        <p:nvPicPr>
          <p:cNvPr id="5" name="תמונה 4" descr="תמונה שמכילה טקסט, קו, עלילה, תרשים&#10;&#10;תוכן שנוצר על-ידי בינה מלאכותית עשוי להיות שגוי.">
            <a:extLst>
              <a:ext uri="{FF2B5EF4-FFF2-40B4-BE49-F238E27FC236}">
                <a16:creationId xmlns:a16="http://schemas.microsoft.com/office/drawing/2014/main" id="{2BD366EB-EDA8-8694-D966-74F6D41629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1" y="389697"/>
            <a:ext cx="5758926" cy="5773359"/>
          </a:xfrm>
          <a:prstGeom prst="rect">
            <a:avLst/>
          </a:prstGeom>
        </p:spPr>
      </p:pic>
    </p:spTree>
    <p:extLst>
      <p:ext uri="{BB962C8B-B14F-4D97-AF65-F5344CB8AC3E}">
        <p14:creationId xmlns:p14="http://schemas.microsoft.com/office/powerpoint/2010/main" val="11914853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D1829064-5686-74D3-01A2-141EC81DBB4C}"/>
              </a:ext>
            </a:extLst>
          </p:cNvPr>
          <p:cNvSpPr>
            <a:spLocks noGrp="1"/>
          </p:cNvSpPr>
          <p:nvPr>
            <p:ph type="title"/>
          </p:nvPr>
        </p:nvSpPr>
        <p:spPr>
          <a:xfrm>
            <a:off x="704088" y="914400"/>
            <a:ext cx="6001512" cy="1307592"/>
          </a:xfrm>
        </p:spPr>
        <p:txBody>
          <a:bodyPr>
            <a:normAutofit/>
          </a:bodyPr>
          <a:lstStyle/>
          <a:p>
            <a:r>
              <a:rPr lang="en-US" sz="4000" dirty="0"/>
              <a:t>Results (cont.)</a:t>
            </a:r>
          </a:p>
        </p:txBody>
      </p:sp>
      <p:cxnSp>
        <p:nvCxnSpPr>
          <p:cNvPr id="12" name="Straight Connector 11">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מציין מיקום תוכן 2">
                <a:extLst>
                  <a:ext uri="{FF2B5EF4-FFF2-40B4-BE49-F238E27FC236}">
                    <a16:creationId xmlns:a16="http://schemas.microsoft.com/office/drawing/2014/main" id="{93BC4B4B-2531-337C-F8B7-0F9C0C2DCDF0}"/>
                  </a:ext>
                </a:extLst>
              </p:cNvPr>
              <p:cNvSpPr>
                <a:spLocks noGrp="1"/>
              </p:cNvSpPr>
              <p:nvPr>
                <p:ph idx="1"/>
              </p:nvPr>
            </p:nvSpPr>
            <p:spPr>
              <a:xfrm>
                <a:off x="704088" y="2231136"/>
                <a:ext cx="4316146" cy="3712464"/>
              </a:xfrm>
            </p:spPr>
            <p:txBody>
              <a:bodyPr>
                <a:normAutofit fontScale="92500"/>
              </a:bodyPr>
              <a:lstStyle/>
              <a:p>
                <a:r>
                  <a:rPr lang="en-US" b="0" i="0" dirty="0">
                    <a:effectLst/>
                    <a:latin typeface="Arial (Body)"/>
                  </a:rPr>
                  <a:t>We examined the correlation between a protein's model score and the experimental binding strength</a:t>
                </a:r>
                <a:r>
                  <a:rPr lang="en-US" dirty="0">
                    <a:latin typeface="Arial (Body)"/>
                  </a:rPr>
                  <a:t>.</a:t>
                </a:r>
              </a:p>
              <a:p>
                <a:r>
                  <a:rPr lang="en-US" dirty="0">
                    <a:latin typeface="Arial (Body)"/>
                  </a:rPr>
                  <a:t>The binding strength is measured by the ratio:</a:t>
                </a:r>
              </a:p>
              <a:p>
                <a:pPr marL="914400" lvl="2" indent="0">
                  <a:buNone/>
                </a:pPr>
                <a14:m>
                  <m:oMathPara xmlns:m="http://schemas.openxmlformats.org/officeDocument/2006/math">
                    <m:oMathParaPr>
                      <m:jc m:val="centerGroup"/>
                    </m:oMathParaPr>
                    <m:oMath xmlns:m="http://schemas.openxmlformats.org/officeDocument/2006/math">
                      <m:f>
                        <m:fPr>
                          <m:ctrlPr>
                            <a:rPr lang="en-AU" sz="2200" i="1">
                              <a:latin typeface="Cambria Math" panose="02040503050406030204" pitchFamily="18" charset="0"/>
                            </a:rPr>
                          </m:ctrlPr>
                        </m:fPr>
                        <m:num>
                          <m:sSup>
                            <m:sSupPr>
                              <m:ctrlPr>
                                <a:rPr lang="en-AU" sz="2200" i="1" smtClean="0">
                                  <a:latin typeface="Cambria Math" panose="02040503050406030204" pitchFamily="18" charset="0"/>
                                </a:rPr>
                              </m:ctrlPr>
                            </m:sSupPr>
                            <m:e>
                              <m:r>
                                <a:rPr lang="en-AU" sz="2200" i="1">
                                  <a:latin typeface="Cambria Math" panose="02040503050406030204" pitchFamily="18" charset="0"/>
                                </a:rPr>
                                <m:t>𝑖𝐵𝐴𝑄</m:t>
                              </m:r>
                            </m:e>
                            <m:sup>
                              <m:r>
                                <a:rPr lang="en-AU" sz="2200" b="0" i="1" smtClean="0">
                                  <a:latin typeface="Cambria Math" panose="02040503050406030204" pitchFamily="18" charset="0"/>
                                </a:rPr>
                                <m:t>∗</m:t>
                              </m:r>
                            </m:sup>
                          </m:sSup>
                          <m:r>
                            <a:rPr lang="en-AU" sz="2200" i="1">
                              <a:latin typeface="Cambria Math" panose="02040503050406030204" pitchFamily="18" charset="0"/>
                            </a:rPr>
                            <m:t>[</m:t>
                          </m:r>
                          <m:r>
                            <a:rPr lang="en-AU" sz="2200" i="1">
                              <a:latin typeface="Cambria Math" panose="02040503050406030204" pitchFamily="18" charset="0"/>
                            </a:rPr>
                            <m:t>𝐶𝑅𝑀</m:t>
                          </m:r>
                          <m:r>
                            <a:rPr lang="en-AU" sz="2200" i="1">
                              <a:latin typeface="Cambria Math" panose="02040503050406030204" pitchFamily="18" charset="0"/>
                            </a:rPr>
                            <m:t>1</m:t>
                          </m:r>
                          <m:r>
                            <a:rPr lang="en-AU" sz="2200" i="1">
                              <a:latin typeface="Cambria Math" panose="02040503050406030204" pitchFamily="18" charset="0"/>
                            </a:rPr>
                            <m:t>+</m:t>
                          </m:r>
                          <m:r>
                            <a:rPr lang="en-AU" sz="2200" i="1">
                              <a:latin typeface="Cambria Math" panose="02040503050406030204" pitchFamily="18" charset="0"/>
                            </a:rPr>
                            <m:t>𝑅𝑎𝑛𝐺𝑇𝑃</m:t>
                          </m:r>
                          <m:r>
                            <a:rPr lang="en-AU" sz="2200" i="1">
                              <a:latin typeface="Cambria Math" panose="02040503050406030204" pitchFamily="18" charset="0"/>
                            </a:rPr>
                            <m:t>]</m:t>
                          </m:r>
                        </m:num>
                        <m:den>
                          <m:r>
                            <a:rPr lang="en-AU" sz="2200" i="1">
                              <a:latin typeface="Cambria Math" panose="02040503050406030204" pitchFamily="18" charset="0"/>
                            </a:rPr>
                            <m:t>𝑖𝐵𝐴𝑄</m:t>
                          </m:r>
                          <m:d>
                            <m:dPr>
                              <m:begChr m:val="["/>
                              <m:endChr m:val="]"/>
                              <m:ctrlPr>
                                <a:rPr lang="en-AU" sz="2200" i="1">
                                  <a:latin typeface="Cambria Math" panose="02040503050406030204" pitchFamily="18" charset="0"/>
                                </a:rPr>
                              </m:ctrlPr>
                            </m:dPr>
                            <m:e>
                              <m:r>
                                <a:rPr lang="en-AU" sz="2200" i="1">
                                  <a:latin typeface="Cambria Math" panose="02040503050406030204" pitchFamily="18" charset="0"/>
                                </a:rPr>
                                <m:t>𝐼𝑛𝑝𝑢𝑡</m:t>
                              </m:r>
                            </m:e>
                          </m:d>
                        </m:den>
                      </m:f>
                    </m:oMath>
                  </m:oMathPara>
                </a14:m>
                <a:endParaRPr lang="en-AU" sz="2200" b="0" dirty="0">
                  <a:latin typeface="Arial (Body)"/>
                </a:endParaRPr>
              </a:p>
              <a:p>
                <a:pPr marL="914400" lvl="2" indent="0">
                  <a:buNone/>
                </a:pPr>
                <a:endParaRPr lang="en-AU" sz="2200" dirty="0">
                  <a:latin typeface="Arial (Body)"/>
                </a:endParaRPr>
              </a:p>
              <a:p>
                <a:pPr marL="914400" lvl="2" indent="0">
                  <a:buNone/>
                </a:pPr>
                <a:r>
                  <a:rPr lang="en-AU" sz="1000" b="0" dirty="0">
                    <a:latin typeface="Arial (Body)"/>
                  </a:rPr>
                  <a:t>*</a:t>
                </a:r>
                <a:r>
                  <a:rPr lang="en-AU" sz="1000" dirty="0"/>
                  <a:t> Intensity-Based Absolute Quantification</a:t>
                </a:r>
                <a:endParaRPr lang="en-AU" sz="1000" b="0" dirty="0">
                  <a:latin typeface="Arial (Body)"/>
                </a:endParaRPr>
              </a:p>
            </p:txBody>
          </p:sp>
        </mc:Choice>
        <mc:Fallback>
          <p:sp>
            <p:nvSpPr>
              <p:cNvPr id="3" name="מציין מיקום תוכן 2">
                <a:extLst>
                  <a:ext uri="{FF2B5EF4-FFF2-40B4-BE49-F238E27FC236}">
                    <a16:creationId xmlns:a16="http://schemas.microsoft.com/office/drawing/2014/main" id="{93BC4B4B-2531-337C-F8B7-0F9C0C2DCDF0}"/>
                  </a:ext>
                </a:extLst>
              </p:cNvPr>
              <p:cNvSpPr>
                <a:spLocks noGrp="1" noRot="1" noChangeAspect="1" noMove="1" noResize="1" noEditPoints="1" noAdjustHandles="1" noChangeArrowheads="1" noChangeShapeType="1" noTextEdit="1"/>
              </p:cNvSpPr>
              <p:nvPr>
                <p:ph idx="1"/>
              </p:nvPr>
            </p:nvSpPr>
            <p:spPr>
              <a:xfrm>
                <a:off x="704088" y="2231136"/>
                <a:ext cx="4316146" cy="3712464"/>
              </a:xfrm>
              <a:blipFill>
                <a:blip r:embed="rId2"/>
                <a:stretch>
                  <a:fillRect l="-1130" t="-164" b="-493"/>
                </a:stretch>
              </a:blipFill>
            </p:spPr>
            <p:txBody>
              <a:bodyPr/>
              <a:lstStyle/>
              <a:p>
                <a:r>
                  <a:rPr lang="en-IL">
                    <a:noFill/>
                  </a:rPr>
                  <a:t> </a:t>
                </a:r>
              </a:p>
            </p:txBody>
          </p:sp>
        </mc:Fallback>
      </mc:AlternateContent>
      <p:pic>
        <p:nvPicPr>
          <p:cNvPr id="5" name="תמונה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5A3E0AF9-34BD-9CA3-21D1-D2DFC66C72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234" y="914400"/>
            <a:ext cx="6684085" cy="5029773"/>
          </a:xfrm>
          <a:prstGeom prst="rect">
            <a:avLst/>
          </a:prstGeom>
        </p:spPr>
      </p:pic>
    </p:spTree>
    <p:extLst>
      <p:ext uri="{BB962C8B-B14F-4D97-AF65-F5344CB8AC3E}">
        <p14:creationId xmlns:p14="http://schemas.microsoft.com/office/powerpoint/2010/main" val="859264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0AC7E-D173-8340-14F0-89F2A804DFB8}"/>
              </a:ext>
            </a:extLst>
          </p:cNvPr>
          <p:cNvSpPr>
            <a:spLocks noGrp="1"/>
          </p:cNvSpPr>
          <p:nvPr>
            <p:ph type="title"/>
          </p:nvPr>
        </p:nvSpPr>
        <p:spPr/>
        <p:txBody>
          <a:bodyPr/>
          <a:lstStyle/>
          <a:p>
            <a:r>
              <a:rPr lang="en-AU" dirty="0"/>
              <a:t>Future Work</a:t>
            </a:r>
            <a:endParaRPr lang="en-IL" dirty="0"/>
          </a:p>
        </p:txBody>
      </p:sp>
      <p:sp>
        <p:nvSpPr>
          <p:cNvPr id="3" name="Content Placeholder 2">
            <a:extLst>
              <a:ext uri="{FF2B5EF4-FFF2-40B4-BE49-F238E27FC236}">
                <a16:creationId xmlns:a16="http://schemas.microsoft.com/office/drawing/2014/main" id="{6C895687-9594-6CFC-5A74-6104E1A6F48B}"/>
              </a:ext>
            </a:extLst>
          </p:cNvPr>
          <p:cNvSpPr>
            <a:spLocks noGrp="1"/>
          </p:cNvSpPr>
          <p:nvPr>
            <p:ph idx="1"/>
          </p:nvPr>
        </p:nvSpPr>
        <p:spPr/>
        <p:txBody>
          <a:bodyPr/>
          <a:lstStyle/>
          <a:p>
            <a:r>
              <a:rPr lang="en-US" dirty="0"/>
              <a:t>We think the most critical part is collecting better data, especially negative samples for training.</a:t>
            </a:r>
          </a:p>
          <a:p>
            <a:r>
              <a:rPr lang="en-US" dirty="0"/>
              <a:t>One option is to look for human proteins which bind to different transporter proteins. *</a:t>
            </a:r>
          </a:p>
          <a:p>
            <a:r>
              <a:rPr lang="en-US" dirty="0"/>
              <a:t>* this would still require knowing the binding sites so that we can take those as our widow, as well as requiring the sites to not be any larger than our sliding window of size 20, so that the separation would not be trivial.</a:t>
            </a:r>
            <a:endParaRPr lang="en-IL" dirty="0"/>
          </a:p>
        </p:txBody>
      </p:sp>
    </p:spTree>
    <p:extLst>
      <p:ext uri="{BB962C8B-B14F-4D97-AF65-F5344CB8AC3E}">
        <p14:creationId xmlns:p14="http://schemas.microsoft.com/office/powerpoint/2010/main" val="2758732938"/>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151</TotalTime>
  <Words>451</Words>
  <Application>Microsoft Office PowerPoint</Application>
  <PresentationFormat>Widescreen</PresentationFormat>
  <Paragraphs>40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Arial (Body)</vt:lpstr>
      <vt:lpstr>Cambria Math</vt:lpstr>
      <vt:lpstr>CMBX12</vt:lpstr>
      <vt:lpstr>CMR12</vt:lpstr>
      <vt:lpstr>CMR17</vt:lpstr>
      <vt:lpstr>ChronicleVTI</vt:lpstr>
      <vt:lpstr>NES-Finder: A Transformer-classifier for Identifying Novel Nuclear Export Signals (project #3)      </vt:lpstr>
      <vt:lpstr>Introduction:</vt:lpstr>
      <vt:lpstr>Methods:</vt:lpstr>
      <vt:lpstr>Data:</vt:lpstr>
      <vt:lpstr>Result</vt:lpstr>
      <vt:lpstr>Results (cont.) </vt:lpstr>
      <vt:lpstr>Results (cont.)</vt:lpstr>
      <vt:lpstr>Results (cont.)</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Shira Gelbstein</dc:creator>
  <cp:lastModifiedBy>אמרי שובל</cp:lastModifiedBy>
  <cp:revision>82</cp:revision>
  <dcterms:created xsi:type="dcterms:W3CDTF">2025-06-23T11:49:00Z</dcterms:created>
  <dcterms:modified xsi:type="dcterms:W3CDTF">2025-06-24T09:28:53Z</dcterms:modified>
</cp:coreProperties>
</file>