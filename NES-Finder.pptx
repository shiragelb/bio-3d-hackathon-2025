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>
  <p:sldMasterIdLst>
    <p:sldMasterId id="2147483683" r:id="rId1"/>
  </p:sldMasterIdLst>
  <p:sldIdLst>
    <p:sldId id="256" r:id="rId2"/>
    <p:sldId id="258" r:id="rId3"/>
    <p:sldId id="257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0000" autoAdjust="0"/>
    <p:restoredTop sz="94660"/>
  </p:normalViewPr>
  <p:slideViewPr>
    <p:cSldViewPr snapToGrid="0">
      <p:cViewPr varScale="1">
        <p:scale>
          <a:sx n="78" d="100"/>
          <a:sy n="78" d="100"/>
        </p:scale>
        <p:origin x="64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6/23/2025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2032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6/23/2025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47537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6/23/2025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81100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6/23/2025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2763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6/23/2025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3981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6/23/2025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52436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6/23/2025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6289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6/23/2025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94025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6/23/2025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28051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6/23/2025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0751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6/23/2025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87150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lIns="91440" tIns="45720" rIns="91440" bIns="4572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lIns="91440" tIns="45720" rIns="91440" bIns="4572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6/23/2025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lIns="91440" tIns="45720" rIns="91440" bIns="4572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lIns="91440" tIns="45720" rIns="91440" bIns="4572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85786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76" r:id="rId6"/>
    <p:sldLayoutId id="2147483672" r:id="rId7"/>
    <p:sldLayoutId id="2147483673" r:id="rId8"/>
    <p:sldLayoutId id="2147483674" r:id="rId9"/>
    <p:sldLayoutId id="2147483675" r:id="rId10"/>
    <p:sldLayoutId id="2147483677" r:id="rId11"/>
  </p:sldLayoutIdLst>
  <p:hf sldNum="0" hdr="0" ftr="0" dt="0"/>
  <p:txStyles>
    <p:titleStyle>
      <a:lvl1pPr algn="l" defTabSz="914400" rtl="0" eaLnBrk="1" latinLnBrk="0" hangingPunct="1">
        <a:lnSpc>
          <a:spcPct val="110000"/>
        </a:lnSpc>
        <a:spcBef>
          <a:spcPct val="0"/>
        </a:spcBef>
        <a:buNone/>
        <a:defRPr sz="4800" kern="1200" cap="none" spc="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nature.com/articles/s41598-019-43004-0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כותרת 1">
            <a:extLst>
              <a:ext uri="{FF2B5EF4-FFF2-40B4-BE49-F238E27FC236}">
                <a16:creationId xmlns:a16="http://schemas.microsoft.com/office/drawing/2014/main" id="{963E4ADE-6F63-9FE9-87A1-E5746833C5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04552" y="871758"/>
            <a:ext cx="5825448" cy="387114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b="0" i="0" u="none" strike="noStrike" baseline="0" dirty="0">
                <a:latin typeface="CMR17"/>
              </a:rPr>
              <a:t>NES-Finder: A Transformer-classifier for Identifying Novel</a:t>
            </a:r>
            <a:br>
              <a:rPr lang="en-US" sz="3600" b="0" i="0" u="none" strike="noStrike" baseline="0" dirty="0">
                <a:latin typeface="CMR17"/>
              </a:rPr>
            </a:br>
            <a:r>
              <a:rPr lang="en-US" sz="3600" b="0" i="0" u="none" strike="noStrike" baseline="0" dirty="0">
                <a:latin typeface="CMR17"/>
              </a:rPr>
              <a:t>Nuclear Export Signals</a:t>
            </a:r>
            <a:br>
              <a:rPr lang="en-US" sz="3600" b="0" i="0" u="none" strike="noStrike" baseline="0" dirty="0">
                <a:latin typeface="CMR17"/>
              </a:rPr>
            </a:br>
            <a:r>
              <a:rPr lang="en-US" sz="2700" b="0" i="0" u="none" strike="noStrike" baseline="0" dirty="0">
                <a:latin typeface="CMR17"/>
              </a:rPr>
              <a:t>(project num. 3)</a:t>
            </a:r>
            <a:br>
              <a:rPr lang="en-US" sz="2700" dirty="0"/>
            </a:br>
            <a:br>
              <a:rPr lang="en-US" sz="3600" b="0" i="0" u="none" strike="noStrike" baseline="0" dirty="0">
                <a:latin typeface="CMR17"/>
              </a:rPr>
            </a:br>
            <a:br>
              <a:rPr lang="en-US" sz="3600" b="0" i="0" u="none" strike="noStrike" baseline="0" dirty="0">
                <a:latin typeface="CMR17"/>
              </a:rPr>
            </a:br>
            <a:br>
              <a:rPr lang="en-US" sz="2400" b="0" i="0" u="none" strike="noStrike" baseline="0" dirty="0">
                <a:latin typeface="CMR17"/>
              </a:rPr>
            </a:br>
            <a:br>
              <a:rPr lang="en-US" sz="2400" b="0" i="0" u="none" strike="noStrike" baseline="0" dirty="0">
                <a:latin typeface="CMR17"/>
              </a:rPr>
            </a:br>
            <a:br>
              <a:rPr lang="en-US" sz="2400" b="0" i="0" u="none" strike="noStrike" baseline="0" dirty="0">
                <a:latin typeface="CMR17"/>
              </a:rPr>
            </a:br>
            <a:endParaRPr lang="en-US" sz="2400" dirty="0"/>
          </a:p>
        </p:txBody>
      </p:sp>
      <p:sp>
        <p:nvSpPr>
          <p:cNvPr id="3" name="כותרת משנה 2">
            <a:extLst>
              <a:ext uri="{FF2B5EF4-FFF2-40B4-BE49-F238E27FC236}">
                <a16:creationId xmlns:a16="http://schemas.microsoft.com/office/drawing/2014/main" id="{302A3F64-813E-44D6-7C94-A004855075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61876" y="4935672"/>
            <a:ext cx="6135156" cy="1005657"/>
          </a:xfrm>
        </p:spPr>
        <p:txBody>
          <a:bodyPr>
            <a:normAutofit/>
          </a:bodyPr>
          <a:lstStyle/>
          <a:p>
            <a:r>
              <a:rPr lang="nl-NL" sz="1800" u="none" dirty="0">
                <a:latin typeface="CMR12"/>
              </a:rPr>
              <a:t>Team: </a:t>
            </a:r>
            <a:r>
              <a:rPr lang="nl-NL" sz="1800" b="0" i="0" u="none" strike="noStrike" baseline="0" dirty="0">
                <a:latin typeface="CMR12"/>
              </a:rPr>
              <a:t>Daniel Levin, Imri Shuval, Shira Gelbstein, Ron Levin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723776" y="723900"/>
            <a:ext cx="5706224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CF06E40-3ECB-4820-95B5-8A70B07D4B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723776" y="6134100"/>
            <a:ext cx="56681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תמונה 5">
            <a:extLst>
              <a:ext uri="{FF2B5EF4-FFF2-40B4-BE49-F238E27FC236}">
                <a16:creationId xmlns:a16="http://schemas.microsoft.com/office/drawing/2014/main" id="{47A5E9EF-A8CE-D964-2456-CEB195E879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21964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5958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ADA6D95E-77BA-7CAD-B357-4735D5B439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400" b="0" i="0" u="none" strike="noStrike" baseline="0" dirty="0">
                <a:latin typeface="CMBX12"/>
              </a:rPr>
              <a:t>Introduction:</a:t>
            </a:r>
            <a:endParaRPr lang="en-US" sz="4400" dirty="0"/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4446C950-F757-8968-D302-14F6C21C7F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  <a:p>
            <a:r>
              <a:rPr lang="en-US" sz="2000" dirty="0">
                <a:latin typeface="+mj-lt"/>
                <a:sym typeface="Helvetica"/>
              </a:rPr>
              <a:t>Proteins are transported between the nucleus and the </a:t>
            </a:r>
            <a:r>
              <a:rPr lang="en-US" sz="2000" dirty="0" err="1">
                <a:latin typeface="+mj-lt"/>
                <a:sym typeface="Helvetica"/>
              </a:rPr>
              <a:t>cytoplasms</a:t>
            </a:r>
            <a:r>
              <a:rPr lang="en-US" sz="2000" dirty="0">
                <a:latin typeface="+mj-lt"/>
                <a:sym typeface="Helvetica"/>
              </a:rPr>
              <a:t> through nuclear pore complexes (NPCs).</a:t>
            </a:r>
            <a:r>
              <a:rPr lang="en-US" dirty="0"/>
              <a:t>	</a:t>
            </a:r>
          </a:p>
          <a:p>
            <a:r>
              <a:rPr lang="en-US" dirty="0"/>
              <a:t>NESs are peptide signals recognized by the transport protein CRM1/XPO1 which allows the protein to pass through the NPCs.</a:t>
            </a:r>
          </a:p>
          <a:p>
            <a:r>
              <a:rPr lang="en-US" dirty="0"/>
              <a:t>NES motifs are </a:t>
            </a:r>
            <a:r>
              <a:rPr lang="en-US" b="1" dirty="0"/>
              <a:t>diverse</a:t>
            </a:r>
            <a:r>
              <a:rPr lang="en-US" dirty="0"/>
              <a:t> and hard to detect.</a:t>
            </a:r>
          </a:p>
          <a:p>
            <a:r>
              <a:rPr lang="en-US" dirty="0"/>
              <a:t>Project goal: develop a deep learning model to identify NES-containing proteins based only on their amino acid sequence.</a:t>
            </a:r>
          </a:p>
        </p:txBody>
      </p:sp>
    </p:spTree>
    <p:extLst>
      <p:ext uri="{BB962C8B-B14F-4D97-AF65-F5344CB8AC3E}">
        <p14:creationId xmlns:p14="http://schemas.microsoft.com/office/powerpoint/2010/main" val="7372109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D2E8309A-E8D2-8D2F-AF75-759B3C33E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400" b="0" i="0" u="none" strike="noStrike" baseline="0" dirty="0">
                <a:latin typeface="CMBX12"/>
              </a:rPr>
              <a:t>Methods:</a:t>
            </a:r>
            <a:endParaRPr lang="en-US" sz="4400" dirty="0"/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6DDDE468-B3B7-B323-2355-DA9A2260FA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dirty="0"/>
              <a:t>Used ESM-2 protein language model to generate embeddings from full protein sequences.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Extracted sub-sequences: known NES motifs (positives) and random segments of non NES proteins (negatives).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Trained a Transformer-based classifier using binary cross-entropy loss.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In test time, applied a sliding window (20 aa) over each sequence; final score = max window prediction.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43101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ED3CB2D0-C69C-50F6-1C42-BD08812332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400" dirty="0"/>
              <a:t>Data: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A57FE8D-24E2-E00A-BDB2-B92F87D9C48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700635" y="2229894"/>
            <a:ext cx="10390152" cy="37240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Positive samples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NES motifs from the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NESsential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database, matched to full-length human proteins from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UniProt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Final negatives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Random segments from </a:t>
            </a:r>
            <a:r>
              <a:rPr lang="en-US" altLang="en-US" dirty="0">
                <a:latin typeface="Arial" panose="020B0604020202020204" pitchFamily="34" charset="0"/>
              </a:rPr>
              <a:t>h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uman proteins experimentally shown </a:t>
            </a:r>
            <a:r>
              <a:rPr kumimoji="0" lang="en-US" altLang="en-U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not to bind CRM1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(from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Kırlı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et al.).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Initial negatives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Random bacterial peptide’s segments from PDB.</a:t>
            </a:r>
            <a:endParaRPr lang="en-US" altLang="en-US" dirty="0"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latin typeface="Arial" panose="020B0604020202020204" pitchFamily="34" charset="0"/>
              </a:rPr>
              <a:t>Secondary negatives: </a:t>
            </a:r>
            <a:r>
              <a:rPr lang="en-US" altLang="en-US" dirty="0">
                <a:latin typeface="Arial" panose="020B0604020202020204" pitchFamily="34" charset="0"/>
                <a:hlinkClick r:id="rId2"/>
              </a:rPr>
              <a:t>https://www.nature.com/articles/s41598-019-43004-0</a:t>
            </a:r>
            <a:r>
              <a:rPr lang="en-US" altLang="en-US" dirty="0">
                <a:latin typeface="Arial" panose="020B0604020202020204" pitchFamily="34" charset="0"/>
              </a:rPr>
              <a:t> 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698988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כותרת 1">
            <a:extLst>
              <a:ext uri="{FF2B5EF4-FFF2-40B4-BE49-F238E27FC236}">
                <a16:creationId xmlns:a16="http://schemas.microsoft.com/office/drawing/2014/main" id="{DF1D8383-A6B6-08FA-F563-1585162D2B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3799763" cy="1473200"/>
          </a:xfrm>
        </p:spPr>
        <p:txBody>
          <a:bodyPr>
            <a:normAutofit/>
          </a:bodyPr>
          <a:lstStyle/>
          <a:p>
            <a:r>
              <a:rPr lang="en-US" sz="3600" dirty="0"/>
              <a:t>Results: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2E57F3D-33BE-4306-87E6-2457637195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2376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1">
            <a:extLst>
              <a:ext uri="{FF2B5EF4-FFF2-40B4-BE49-F238E27FC236}">
                <a16:creationId xmlns:a16="http://schemas.microsoft.com/office/drawing/2014/main" id="{94DC72E3-8630-89A6-F5D1-53CE2A415D1A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704088" y="2387600"/>
            <a:ext cx="3799763" cy="376732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Initial test -Human vs. Bacteria: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Model achieved near-perfect accuracy, 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but task was too trivial due to species separation (validated with t-SNE).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pic>
        <p:nvPicPr>
          <p:cNvPr id="15" name="תמונה 14" descr="תמונה שמכילה צילום מסך&#10;&#10;תוכן שנוצר על-ידי בינה מלאכותית עשוי להיות שגוי.">
            <a:extLst>
              <a:ext uri="{FF2B5EF4-FFF2-40B4-BE49-F238E27FC236}">
                <a16:creationId xmlns:a16="http://schemas.microsoft.com/office/drawing/2014/main" id="{43CF3266-5BF6-4FF9-3812-0EB5FB567D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1" r="-1" b="-1"/>
          <a:stretch>
            <a:fillRect/>
          </a:stretch>
        </p:blipFill>
        <p:spPr>
          <a:xfrm>
            <a:off x="4981575" y="735286"/>
            <a:ext cx="6495042" cy="5419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40144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כותרת 1">
            <a:extLst>
              <a:ext uri="{FF2B5EF4-FFF2-40B4-BE49-F238E27FC236}">
                <a16:creationId xmlns:a16="http://schemas.microsoft.com/office/drawing/2014/main" id="{EA65F8DA-14F6-9AF1-0F11-A9FFBB2E0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6001512" cy="1307592"/>
          </a:xfrm>
        </p:spPr>
        <p:txBody>
          <a:bodyPr>
            <a:normAutofit/>
          </a:bodyPr>
          <a:lstStyle/>
          <a:p>
            <a:r>
              <a:rPr lang="en-US" sz="4000" dirty="0"/>
              <a:t>Results (cont.) 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583FD9E-C5A7-96F7-951D-7D292013CD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2376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5EA58715-E929-6EE6-6721-013F21F5E7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4088" y="2231136"/>
            <a:ext cx="6001512" cy="3931920"/>
          </a:xfrm>
        </p:spPr>
        <p:txBody>
          <a:bodyPr>
            <a:normAutofit/>
          </a:bodyPr>
          <a:lstStyle/>
          <a:p>
            <a:r>
              <a:rPr lang="en-US" dirty="0"/>
              <a:t>Secondary try: Generated harder negatives by mutating NES motifs at key CRM1-binding sites (2 sites).</a:t>
            </a:r>
          </a:p>
          <a:p>
            <a:r>
              <a:rPr lang="en-US" dirty="0"/>
              <a:t>Poor results </a:t>
            </a:r>
          </a:p>
        </p:txBody>
      </p:sp>
      <p:pic>
        <p:nvPicPr>
          <p:cNvPr id="7" name="תמונה 6">
            <a:extLst>
              <a:ext uri="{FF2B5EF4-FFF2-40B4-BE49-F238E27FC236}">
                <a16:creationId xmlns:a16="http://schemas.microsoft.com/office/drawing/2014/main" id="{DC927CA6-239F-15D5-CF30-9EFB513D14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5600" y="914400"/>
            <a:ext cx="5170842" cy="5157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67080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כותרת 1">
            <a:extLst>
              <a:ext uri="{FF2B5EF4-FFF2-40B4-BE49-F238E27FC236}">
                <a16:creationId xmlns:a16="http://schemas.microsoft.com/office/drawing/2014/main" id="{9BC0078E-4F45-687F-5A76-30158BEDC8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6001512" cy="1307592"/>
          </a:xfrm>
        </p:spPr>
        <p:txBody>
          <a:bodyPr>
            <a:normAutofit/>
          </a:bodyPr>
          <a:lstStyle/>
          <a:p>
            <a:r>
              <a:rPr lang="en-US" sz="4000" dirty="0"/>
              <a:t>Results (cont.)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583FD9E-C5A7-96F7-951D-7D292013CD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2376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AB56E07C-00EA-A1D6-6BFF-0AAA056AF3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4088" y="2231136"/>
            <a:ext cx="5633421" cy="3931920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Final test: Model evaluated on human non-binders with AUC = 0.79, showing good predictive performance.</a:t>
            </a:r>
          </a:p>
          <a:p>
            <a:endParaRPr lang="en-US" dirty="0"/>
          </a:p>
        </p:txBody>
      </p:sp>
      <p:pic>
        <p:nvPicPr>
          <p:cNvPr id="5" name="תמונה 4" descr="תמונה שמכילה טקסט, קו, עלילה, תרשים&#10;&#10;תוכן שנוצר על-ידי בינה מלאכותית עשוי להיות שגוי.">
            <a:extLst>
              <a:ext uri="{FF2B5EF4-FFF2-40B4-BE49-F238E27FC236}">
                <a16:creationId xmlns:a16="http://schemas.microsoft.com/office/drawing/2014/main" id="{2BD366EB-EDA8-8694-D966-74F6D41629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1505" y="515517"/>
            <a:ext cx="5633421" cy="56475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14853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כותרת 1">
            <a:extLst>
              <a:ext uri="{FF2B5EF4-FFF2-40B4-BE49-F238E27FC236}">
                <a16:creationId xmlns:a16="http://schemas.microsoft.com/office/drawing/2014/main" id="{D1829064-5686-74D3-01A2-141EC81DB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6001512" cy="1307592"/>
          </a:xfrm>
        </p:spPr>
        <p:txBody>
          <a:bodyPr>
            <a:normAutofit/>
          </a:bodyPr>
          <a:lstStyle/>
          <a:p>
            <a:r>
              <a:rPr lang="en-US" sz="4000" dirty="0"/>
              <a:t>Results (cont.)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583FD9E-C5A7-96F7-951D-7D292013CD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2376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93BC4B4B-2531-337C-F8B7-0F9C0C2DCD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4088" y="2231136"/>
            <a:ext cx="4316146" cy="3931920"/>
          </a:xfrm>
        </p:spPr>
        <p:txBody>
          <a:bodyPr>
            <a:normAutofit/>
          </a:bodyPr>
          <a:lstStyle/>
          <a:p>
            <a:r>
              <a:rPr lang="en-US" b="0" i="0" dirty="0">
                <a:effectLst/>
                <a:latin typeface="gg sans"/>
              </a:rPr>
              <a:t>We examined the correlation between a protein's model score and the experimental binding strength</a:t>
            </a:r>
            <a:r>
              <a:rPr lang="en-US" dirty="0">
                <a:latin typeface="gg sans"/>
              </a:rPr>
              <a:t>.</a:t>
            </a:r>
            <a:endParaRPr lang="en-US" dirty="0"/>
          </a:p>
        </p:txBody>
      </p:sp>
      <p:pic>
        <p:nvPicPr>
          <p:cNvPr id="5" name="תמונה 4" descr="תמונה שמכילה טקסט, צילום מסך, קו, עלילה&#10;&#10;תוכן שנוצר על-ידי בינה מלאכותית עשוי להיות שגוי.">
            <a:extLst>
              <a:ext uri="{FF2B5EF4-FFF2-40B4-BE49-F238E27FC236}">
                <a16:creationId xmlns:a16="http://schemas.microsoft.com/office/drawing/2014/main" id="{5A3E0AF9-34BD-9CA3-21D1-D2DFC66C72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0234" y="914400"/>
            <a:ext cx="6684085" cy="50297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9264879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</TotalTime>
  <Words>331</Words>
  <Application>Microsoft Office PowerPoint</Application>
  <PresentationFormat>מסך רחב</PresentationFormat>
  <Paragraphs>32</Paragraphs>
  <Slides>8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5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8</vt:i4>
      </vt:variant>
    </vt:vector>
  </HeadingPairs>
  <TitlesOfParts>
    <vt:vector size="14" baseType="lpstr">
      <vt:lpstr>Arial</vt:lpstr>
      <vt:lpstr>CMBX12</vt:lpstr>
      <vt:lpstr>CMR12</vt:lpstr>
      <vt:lpstr>CMR17</vt:lpstr>
      <vt:lpstr>gg sans</vt:lpstr>
      <vt:lpstr>ChronicleVTI</vt:lpstr>
      <vt:lpstr>NES-Finder: A Transformer-classifier for Identifying Novel Nuclear Export Signals (project num. 3)      </vt:lpstr>
      <vt:lpstr>Introduction:</vt:lpstr>
      <vt:lpstr>Methods:</vt:lpstr>
      <vt:lpstr>Data:</vt:lpstr>
      <vt:lpstr>Results:</vt:lpstr>
      <vt:lpstr>Results (cont.) </vt:lpstr>
      <vt:lpstr>Results (cont.)</vt:lpstr>
      <vt:lpstr>Results (cont.)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Shira Gelbstein</dc:creator>
  <cp:lastModifiedBy>Shira Gelbstein</cp:lastModifiedBy>
  <cp:revision>2</cp:revision>
  <dcterms:created xsi:type="dcterms:W3CDTF">2025-06-23T11:49:00Z</dcterms:created>
  <dcterms:modified xsi:type="dcterms:W3CDTF">2025-06-23T13:06:45Z</dcterms:modified>
</cp:coreProperties>
</file>