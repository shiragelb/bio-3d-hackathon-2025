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83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00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203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753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10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6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98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43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28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402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05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75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715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578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48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ature.com/articles/s41598-019-43004-0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963E4ADE-6F63-9FE9-87A1-E5746833C5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0" i="0" u="none" strike="noStrike" baseline="0" dirty="0">
                <a:latin typeface="CMR17"/>
              </a:rPr>
              <a:t>NES-Finder: A Transformer-classifier for Identifying Novel</a:t>
            </a:r>
            <a:br>
              <a:rPr lang="en-US" sz="3600" b="0" i="0" u="none" strike="noStrike" baseline="0" dirty="0">
                <a:latin typeface="CMR17"/>
              </a:rPr>
            </a:br>
            <a:r>
              <a:rPr lang="en-US" sz="3600" b="0" i="0" u="none" strike="noStrike" baseline="0" dirty="0">
                <a:latin typeface="CMR17"/>
              </a:rPr>
              <a:t>Nuclear Export Signals</a:t>
            </a:r>
            <a:br>
              <a:rPr lang="en-US" sz="3600" b="0" i="0" u="none" strike="noStrike" baseline="0" dirty="0">
                <a:latin typeface="CMR17"/>
              </a:rPr>
            </a:br>
            <a:r>
              <a:rPr lang="en-US" sz="2700" b="0" i="0" u="none" strike="noStrike" baseline="0" dirty="0">
                <a:latin typeface="CMR17"/>
              </a:rPr>
              <a:t>(project #3)</a:t>
            </a:r>
            <a:br>
              <a:rPr lang="en-US" sz="2700" dirty="0"/>
            </a:br>
            <a:br>
              <a:rPr lang="en-US" sz="3600" b="0" i="0" u="none" strike="noStrike" baseline="0" dirty="0">
                <a:latin typeface="CMR17"/>
              </a:rPr>
            </a:br>
            <a:br>
              <a:rPr lang="en-US" sz="3600" b="0" i="0" u="none" strike="noStrike" baseline="0" dirty="0">
                <a:latin typeface="CMR17"/>
              </a:rPr>
            </a:br>
            <a:br>
              <a:rPr lang="en-US" sz="2400" b="0" i="0" u="none" strike="noStrike" baseline="0" dirty="0">
                <a:latin typeface="CMR17"/>
              </a:rPr>
            </a:br>
            <a:br>
              <a:rPr lang="en-US" sz="2400" b="0" i="0" u="none" strike="noStrike" baseline="0" dirty="0">
                <a:latin typeface="CMR17"/>
              </a:rPr>
            </a:br>
            <a:br>
              <a:rPr lang="en-US" sz="2400" b="0" i="0" u="none" strike="noStrike" baseline="0" dirty="0">
                <a:latin typeface="CMR17"/>
              </a:rPr>
            </a:br>
            <a:endParaRPr lang="en-US" sz="2400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302A3F64-813E-44D6-7C94-A004855075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1876" y="5504507"/>
            <a:ext cx="5630024" cy="436821"/>
          </a:xfrm>
        </p:spPr>
        <p:txBody>
          <a:bodyPr>
            <a:normAutofit/>
          </a:bodyPr>
          <a:lstStyle/>
          <a:p>
            <a:r>
              <a:rPr lang="nl-NL" sz="1800" u="none" dirty="0">
                <a:latin typeface="CMR12"/>
              </a:rPr>
              <a:t>Team: </a:t>
            </a:r>
            <a:r>
              <a:rPr lang="nl-NL" sz="1800" b="0" i="0" u="none" strike="noStrike" baseline="0" dirty="0">
                <a:latin typeface="CMR12"/>
              </a:rPr>
              <a:t>Daniel Levin, Imri Shuval, Shira Gelbstein, Ron Levin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תמונה 5">
            <a:extLst>
              <a:ext uri="{FF2B5EF4-FFF2-40B4-BE49-F238E27FC236}">
                <a16:creationId xmlns:a16="http://schemas.microsoft.com/office/drawing/2014/main" id="{47A5E9EF-A8CE-D964-2456-CEB195E87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196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958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DA6D95E-77BA-7CAD-B357-4735D5B43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i="0" u="none" strike="noStrike" baseline="0" dirty="0">
                <a:latin typeface="CMBX12"/>
              </a:rPr>
              <a:t>Introduction:</a:t>
            </a:r>
            <a:endParaRPr lang="en-US" sz="4400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446C950-F757-8968-D302-14F6C21C7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+mj-lt"/>
                <a:sym typeface="Helvetica"/>
              </a:rPr>
              <a:t>Proteins are transported between the nucleus and the </a:t>
            </a:r>
            <a:r>
              <a:rPr lang="en-US" sz="2000" dirty="0" err="1">
                <a:latin typeface="+mj-lt"/>
                <a:sym typeface="Helvetica"/>
              </a:rPr>
              <a:t>cytoplasms</a:t>
            </a:r>
            <a:r>
              <a:rPr lang="en-US" sz="2000" dirty="0">
                <a:latin typeface="+mj-lt"/>
                <a:sym typeface="Helvetica"/>
              </a:rPr>
              <a:t> through nuclear pore complexes (NPCs).</a:t>
            </a:r>
            <a:r>
              <a:rPr lang="en-US" dirty="0"/>
              <a:t>	</a:t>
            </a:r>
          </a:p>
          <a:p>
            <a:r>
              <a:rPr lang="en-US" dirty="0"/>
              <a:t>NESs are peptide signals recognized by the transport protein CRM1/XPO1 which allows the protein to pass through the NPCs.</a:t>
            </a:r>
          </a:p>
          <a:p>
            <a:r>
              <a:rPr lang="en-US" dirty="0"/>
              <a:t>NES motifs are </a:t>
            </a:r>
            <a:r>
              <a:rPr lang="en-US" b="1" dirty="0"/>
              <a:t>diverse</a:t>
            </a:r>
            <a:r>
              <a:rPr lang="en-US" dirty="0"/>
              <a:t> and hard to detect.</a:t>
            </a:r>
          </a:p>
          <a:p>
            <a:r>
              <a:rPr lang="en-US" dirty="0"/>
              <a:t>Project goal: develop a deep learning model to identify NES-containing proteins based only on their amino acid sequence.</a:t>
            </a:r>
          </a:p>
        </p:txBody>
      </p:sp>
    </p:spTree>
    <p:extLst>
      <p:ext uri="{BB962C8B-B14F-4D97-AF65-F5344CB8AC3E}">
        <p14:creationId xmlns:p14="http://schemas.microsoft.com/office/powerpoint/2010/main" val="737210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2E8309A-E8D2-8D2F-AF75-759B3C33E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i="0" u="none" strike="noStrike" baseline="0" dirty="0">
                <a:latin typeface="CMBX12"/>
              </a:rPr>
              <a:t>Methods:</a:t>
            </a:r>
            <a:endParaRPr lang="en-US" sz="4400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DDDE468-B3B7-B323-2355-DA9A2260F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ESM-2 protein language model to generate embeddings from full protein sequences.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Extracted sub-sequences: known NES motifs (positives) and random segments of non NES proteins (negatives).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Trained a Transformer-based classifier using binary cross-entropy loss.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test time, applied a sliding window (20 aa) over each sequence; final score = max window prediction.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310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D3CB2D0-C69C-50F6-1C42-BD0881233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Data: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57FE8D-24E2-E00A-BDB2-B92F87D9C4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635" y="2139364"/>
            <a:ext cx="10390152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 samples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NES motifs from the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NESsential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database, matched to full-length human proteins from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UniProt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negatives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Random segments from </a:t>
            </a:r>
            <a:r>
              <a:rPr lang="en-US" altLang="en-US" dirty="0">
                <a:latin typeface="Arial" panose="020B0604020202020204" pitchFamily="34" charset="0"/>
              </a:rPr>
              <a:t>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uman proteins experimentally shown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to bind CRM1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(from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Kırlı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al.).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 negatives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Random bacterial peptide’s segments from PDB.</a:t>
            </a: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Secondary negatives: </a:t>
            </a:r>
            <a:r>
              <a:rPr lang="en-US" altLang="en-US" dirty="0">
                <a:latin typeface="Arial" panose="020B0604020202020204" pitchFamily="34" charset="0"/>
                <a:hlinkClick r:id="rId2"/>
              </a:rPr>
              <a:t>https://www.nature.com/articles/s41598-019-43004-0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898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">
            <a:extLst>
              <a:ext uri="{FF2B5EF4-FFF2-40B4-BE49-F238E27FC236}">
                <a16:creationId xmlns:a16="http://schemas.microsoft.com/office/drawing/2014/main" id="{94DC72E3-8630-89A6-F5D1-53CE2A415D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0731" y="2258796"/>
            <a:ext cx="4611686" cy="231830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Initial test: Human vs. Bacteria: Model achieved near-perfect accuracy,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We deemed the task too trivial, as it could be solved by separating human proteins from bacteria (validated with t-SNE).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dirty="0"/>
          </a:p>
        </p:txBody>
      </p:sp>
      <p:pic>
        <p:nvPicPr>
          <p:cNvPr id="15" name="תמונה 14" descr="תמונה שמכילה צילום מסך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43CF3266-5BF6-4FF9-3812-0EB5FB567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" r="-1" b="-1"/>
          <a:stretch>
            <a:fillRect/>
          </a:stretch>
        </p:blipFill>
        <p:spPr>
          <a:xfrm>
            <a:off x="5470458" y="536114"/>
            <a:ext cx="6495042" cy="5419642"/>
          </a:xfrm>
          <a:prstGeom prst="rect">
            <a:avLst/>
          </a:prstGeom>
        </p:spPr>
      </p:pic>
      <p:sp>
        <p:nvSpPr>
          <p:cNvPr id="6" name="כותרת 1">
            <a:extLst>
              <a:ext uri="{FF2B5EF4-FFF2-40B4-BE49-F238E27FC236}">
                <a16:creationId xmlns:a16="http://schemas.microsoft.com/office/drawing/2014/main" id="{D3206D66-C12B-5DB2-BF10-8280BE4A6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2147754" cy="796705"/>
          </a:xfrm>
        </p:spPr>
        <p:txBody>
          <a:bodyPr>
            <a:normAutofit/>
          </a:bodyPr>
          <a:lstStyle/>
          <a:p>
            <a:r>
              <a:rPr lang="en-US" sz="4000" dirty="0"/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3284014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EA65F8DA-14F6-9AF1-0F11-A9FFBB2E0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001512" cy="1307592"/>
          </a:xfrm>
        </p:spPr>
        <p:txBody>
          <a:bodyPr>
            <a:normAutofit/>
          </a:bodyPr>
          <a:lstStyle/>
          <a:p>
            <a:r>
              <a:rPr lang="en-US" sz="4000" dirty="0"/>
              <a:t>Results (cont.)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EA58715-E929-6EE6-6721-013F21F5E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533750" cy="1725228"/>
          </a:xfrm>
        </p:spPr>
        <p:txBody>
          <a:bodyPr>
            <a:normAutofit/>
          </a:bodyPr>
          <a:lstStyle/>
          <a:p>
            <a:r>
              <a:rPr lang="en-US" dirty="0"/>
              <a:t>Secondary try: Generated harder negatives by mutating NES motifs at key CRM1-binding sites (2 sites).</a:t>
            </a:r>
          </a:p>
          <a:p>
            <a:r>
              <a:rPr lang="en-US" dirty="0"/>
              <a:t>Results were Poor results 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DC927CA6-239F-15D5-CF30-9EFB513D1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15328" y="914400"/>
            <a:ext cx="5151385" cy="5157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08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9BC0078E-4F45-687F-5A76-30158BEDC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001512" cy="1307592"/>
          </a:xfrm>
        </p:spPr>
        <p:txBody>
          <a:bodyPr>
            <a:normAutofit/>
          </a:bodyPr>
          <a:lstStyle/>
          <a:p>
            <a:r>
              <a:rPr lang="en-US" sz="4000" dirty="0"/>
              <a:t>Results (cont.)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B56E07C-00EA-A1D6-6BFF-0AAA056AF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633421" cy="393192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Final test: Model evaluated on human non-binders with AUC = 0.79, showing decent predictive ability.</a:t>
            </a:r>
          </a:p>
          <a:p>
            <a:endParaRPr lang="en-US" dirty="0"/>
          </a:p>
        </p:txBody>
      </p:sp>
      <p:pic>
        <p:nvPicPr>
          <p:cNvPr id="5" name="תמונה 4" descr="תמונה שמכילה טקסט, קו, עלילה, תרשים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2BD366EB-EDA8-8694-D966-74F6D4162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505" y="515517"/>
            <a:ext cx="5633421" cy="5647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485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D1829064-5686-74D3-01A2-141EC81DB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001512" cy="1307592"/>
          </a:xfrm>
        </p:spPr>
        <p:txBody>
          <a:bodyPr>
            <a:normAutofit/>
          </a:bodyPr>
          <a:lstStyle/>
          <a:p>
            <a:r>
              <a:rPr lang="en-US" sz="4000" dirty="0"/>
              <a:t>Results (cont.)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93BC4B4B-2531-337C-F8B7-0F9C0C2DCD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4088" y="2231136"/>
                <a:ext cx="4316146" cy="3712464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b="0" i="0" dirty="0">
                    <a:effectLst/>
                    <a:latin typeface="Arial (Body)"/>
                  </a:rPr>
                  <a:t>We examined the correlation between a protein's model score and the experimental binding strength</a:t>
                </a:r>
                <a:r>
                  <a:rPr lang="en-US" dirty="0">
                    <a:latin typeface="Arial (Body)"/>
                  </a:rPr>
                  <a:t>.</a:t>
                </a:r>
              </a:p>
              <a:p>
                <a:r>
                  <a:rPr lang="en-US" dirty="0">
                    <a:latin typeface="Arial (Body)"/>
                  </a:rPr>
                  <a:t>The binding strength is measured by the ratio: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200" i="1">
                                  <a:latin typeface="Cambria Math" panose="02040503050406030204" pitchFamily="18" charset="0"/>
                                </a:rPr>
                                <m:t>𝑖𝐵𝐴𝑄</m:t>
                              </m:r>
                            </m:e>
                            <m:sup>
                              <m:r>
                                <a:rPr lang="en-AU" sz="22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AU" sz="22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AU" sz="2200" i="1">
                              <a:latin typeface="Cambria Math" panose="02040503050406030204" pitchFamily="18" charset="0"/>
                            </a:rPr>
                            <m:t>𝐶𝑅𝑀</m:t>
                          </m:r>
                          <m:r>
                            <a:rPr lang="en-AU" sz="22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AU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2200" i="1">
                              <a:latin typeface="Cambria Math" panose="02040503050406030204" pitchFamily="18" charset="0"/>
                            </a:rPr>
                            <m:t>𝑅𝑎𝑛𝐺𝑇𝑃</m:t>
                          </m:r>
                          <m:r>
                            <a:rPr lang="en-AU" sz="2200" i="1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AU" sz="2200" i="1">
                              <a:latin typeface="Cambria Math" panose="02040503050406030204" pitchFamily="18" charset="0"/>
                            </a:rPr>
                            <m:t>𝑖𝐵𝐴𝑄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AU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200" i="1">
                                  <a:latin typeface="Cambria Math" panose="02040503050406030204" pitchFamily="18" charset="0"/>
                                </a:rPr>
                                <m:t>𝐼𝑛𝑝𝑢𝑡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AU" sz="2200" b="0" dirty="0">
                  <a:latin typeface="Arial (Body)"/>
                </a:endParaRPr>
              </a:p>
              <a:p>
                <a:pPr marL="914400" lvl="2" indent="0">
                  <a:buNone/>
                </a:pPr>
                <a:endParaRPr lang="en-AU" sz="2200" dirty="0">
                  <a:latin typeface="Arial (Body)"/>
                </a:endParaRPr>
              </a:p>
              <a:p>
                <a:pPr marL="914400" lvl="2" indent="0">
                  <a:buNone/>
                </a:pPr>
                <a:r>
                  <a:rPr lang="en-AU" sz="1000" b="0" dirty="0">
                    <a:latin typeface="Arial (Body)"/>
                  </a:rPr>
                  <a:t>*</a:t>
                </a:r>
                <a:r>
                  <a:rPr lang="en-AU" sz="1000" dirty="0"/>
                  <a:t> Intensity-Based Absolute Quantification</a:t>
                </a:r>
                <a:endParaRPr lang="en-AU" sz="1000" b="0" dirty="0">
                  <a:latin typeface="Arial (Body)"/>
                </a:endParaRPr>
              </a:p>
            </p:txBody>
          </p:sp>
        </mc:Choice>
        <mc:Fallback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93BC4B4B-2531-337C-F8B7-0F9C0C2DCD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4088" y="2231136"/>
                <a:ext cx="4316146" cy="3712464"/>
              </a:xfrm>
              <a:blipFill>
                <a:blip r:embed="rId2"/>
                <a:stretch>
                  <a:fillRect l="-1130" t="-164" b="-49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תמונה 4" descr="תמונה שמכילה טקסט, צילום מסך, קו, עלילה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5A3E0AF9-34BD-9CA3-21D1-D2DFC66C72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234" y="914400"/>
            <a:ext cx="6684085" cy="502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26487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354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(Body)</vt:lpstr>
      <vt:lpstr>Cambria Math</vt:lpstr>
      <vt:lpstr>CMBX12</vt:lpstr>
      <vt:lpstr>CMR12</vt:lpstr>
      <vt:lpstr>CMR17</vt:lpstr>
      <vt:lpstr>ChronicleVTI</vt:lpstr>
      <vt:lpstr>NES-Finder: A Transformer-classifier for Identifying Novel Nuclear Export Signals (project #3)      </vt:lpstr>
      <vt:lpstr>Introduction:</vt:lpstr>
      <vt:lpstr>Methods:</vt:lpstr>
      <vt:lpstr>Data:</vt:lpstr>
      <vt:lpstr>Result</vt:lpstr>
      <vt:lpstr>Results (cont.) </vt:lpstr>
      <vt:lpstr>Results (cont.)</vt:lpstr>
      <vt:lpstr>Results (cont.)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Shira Gelbstein</dc:creator>
  <cp:lastModifiedBy>אמרי שובל</cp:lastModifiedBy>
  <cp:revision>43</cp:revision>
  <dcterms:created xsi:type="dcterms:W3CDTF">2025-06-23T11:49:00Z</dcterms:created>
  <dcterms:modified xsi:type="dcterms:W3CDTF">2025-06-24T08:37:02Z</dcterms:modified>
</cp:coreProperties>
</file>